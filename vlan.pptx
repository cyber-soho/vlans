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140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VLANs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9B9E"/>
                </a:solidFill>
                <a:latin typeface="Calibri"/>
              </a:rPr>
              <a:t>Virtual Local Area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6E5"/>
                </a:solidFill>
                <a:latin typeface="Calibri"/>
              </a:rPr>
              <a:t>Cybersecurity AEC Program</a:t>
            </a:r>
          </a:p>
          <a:p>
            <a:r>
              <a:rPr sz="1400">
                <a:solidFill>
                  <a:srgbClr val="8A9BAE"/>
                </a:solidFill>
                <a:latin typeface="Calibri"/>
              </a:rPr>
              <a:t>What they are  ·  How they are used  ·  Tagging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Problem: Flat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What happens when there is no segmentation?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5"/>
                </a:solidFill>
                <a:latin typeface="Calibri"/>
              </a:rPr>
              <a:t>A company with four departments — Sales, HR, Engineering, Research — all on daisy-chained switches with a single router: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37744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411480" cy="41148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Broadcast Flooding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 single ARP request from Sales reaches every device on the entire network, wasting bandwidth across all departments.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1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Every broadcast hits every host.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383280" cy="237744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2194560"/>
            <a:ext cx="411480" cy="41148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Single Point of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432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If one middle switch dies, every department behind it is completely cut off from the network and Internet.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8861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One failure isolates entire groups.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383280" cy="237744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2194560"/>
            <a:ext cx="411480" cy="41148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Zero Logical Separation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Any user can sniff traffic from any other department. No boundary between sensitive HR data and Sales.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861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No security between departments.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916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78231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A flat network has no segmentation — broadcasts reach everyone, failures cascade, and there is no isolation between departments.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Is a VLAN?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Definition &amp; the Hotel Analogy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9144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VLAN = Virtual Local Area Network</a:t>
            </a:r>
          </a:p>
          <a:p>
            <a:r>
              <a:rPr sz="1300">
                <a:solidFill>
                  <a:srgbClr val="C8D6E5"/>
                </a:solidFill>
                <a:latin typeface="Calibri"/>
              </a:rPr>
              <a:t>A VLAN takes one physical switch and divides it into multiple independent, logical switches — each with its own isolated broadcast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B9E"/>
                </a:solidFill>
                <a:latin typeface="Calibri"/>
              </a:rPr>
              <a:t>The Hotel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5"/>
                </a:solidFill>
                <a:latin typeface="Calibri"/>
              </a:rPr>
              <a:t>Imagine a 10-floor hotel. Without VLANs, every guest shares the same hallways and noise. With VLANs, invisible walls create separate zones: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02336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Floors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1 – 3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Business Zone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Business guests only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4 – 6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Family Zone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Families only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7 – 10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VIP Zone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VIP guests only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0" y="2560320"/>
            <a:ext cx="5212080" cy="292608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142"/>
                </a:solidFill>
                <a:latin typeface="Calibri"/>
              </a:rPr>
              <a:t>Physical vs. Logical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C8D6E5"/>
                </a:solidFill>
                <a:latin typeface="Calibri"/>
              </a:rPr>
              <a:t>Same physical building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C8D6E5"/>
                </a:solidFill>
                <a:latin typeface="Calibri"/>
              </a:rPr>
              <a:t>Completely separate logical spaces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C8D6E5"/>
                </a:solidFill>
                <a:latin typeface="Calibri"/>
              </a:rPr>
              <a:t>Guests in one zone cannot access another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09B9E"/>
                </a:solidFill>
                <a:latin typeface="Calibri"/>
              </a:rPr>
              <a:t>A VLAN does exactly this for a network switch.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8338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A VLAN is a virtual broadcast domain — it segments one physical switch into multiple isolated logical networks, no extra hardware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Is a VLAN?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Four fundamental properties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8288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37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Each VLAN = One Broadcast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 broadcast in VLAN 10 stays in VLAN 10. Period. Other VLANs never see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303520" cy="18288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0" y="1737360"/>
            <a:ext cx="411480" cy="41148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37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Location-Independent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Users don't need to be physically next to each other. An engineer on Floor 1 and Floor 3 can share the same VLAN.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303520" cy="18288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840480"/>
            <a:ext cx="411480" cy="41148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Inter-VLAN = Layer 3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Communication between VLANs requires a router or multilayer switch. Without one, VLANs are completely isolated.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5303520" cy="18288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0" y="3840480"/>
            <a:ext cx="411480" cy="41148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404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Default: All Ports in VLAN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On Cisco switches, every port starts assigned to VLAN 1. You must manually assign ports to other VLANs.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98932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60624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Communication between VLANs only happens through a Layer 3 device (router). Without routing, VLANs are like separate physical networks.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VLANs in Cybersecurity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Three critical security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B9E"/>
                </a:solidFill>
                <a:latin typeface="Calibri"/>
              </a:rPr>
              <a:t>1. </a:t>
            </a:r>
            <a:r>
              <a:rPr sz="1600" b="1">
                <a:solidFill>
                  <a:srgbClr val="FFFFFF"/>
                </a:solidFill>
                <a:latin typeface="Calibri"/>
              </a:rPr>
              <a:t>Segmentation &amp; Lateral Movement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10058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An attacker who compromises a workstation in VLAN 30 (Sales) is trapped inside that VLAN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Cannot directly reach servers in VLAN 10 or management interfaces in VLAN 99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Limits lateral movement — one of the most dangerous phases of a cyberattack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MITRE ATT&amp;CK: Lateral Movement (TA0008)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5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B9E"/>
                </a:solidFill>
                <a:latin typeface="Calibri"/>
              </a:rPr>
              <a:t>2. </a:t>
            </a:r>
            <a:r>
              <a:rPr sz="1600" b="1">
                <a:solidFill>
                  <a:srgbClr val="FFFFFF"/>
                </a:solidFill>
                <a:latin typeface="Calibri"/>
              </a:rPr>
              <a:t>Access Control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0439"/>
            <a:ext cx="10058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VLANs + ACLs or firewall rules at Layer 3 control who communicates with whom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Example: Guest Wi-Fi VLAN reaches Internet but has zero access to internal file servers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3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9B9E"/>
                </a:solidFill>
                <a:latin typeface="Calibri"/>
              </a:rPr>
              <a:t>3. </a:t>
            </a:r>
            <a:r>
              <a:rPr sz="1600" b="1">
                <a:solidFill>
                  <a:srgbClr val="FFFFFF"/>
                </a:solidFill>
                <a:latin typeface="Calibri"/>
              </a:rPr>
              <a:t>Regulatory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17719"/>
            <a:ext cx="10058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PCI-DSS requires cardholder data environments to be segmented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HIPAA, SOX, and NIST 800-171 all recommend or mandate network segmentation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VLANs are a primary tool to achieve and demonstrate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8338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VLANs limit lateral movement, enforce access boundaries, and satisfy compliance mandates like PCI-DSS, HIPAA, and NIST 800-171.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VLANs in Cybersecurity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Limitations — VLANs are NOT firewalls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9728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FF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142"/>
                </a:solidFill>
                <a:latin typeface="Calibri"/>
              </a:rPr>
              <a:t>IMPORTANT CAVEAT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C8D6E5"/>
                </a:solidFill>
                <a:latin typeface="Calibri"/>
              </a:rPr>
              <a:t>VLANs operate at </a:t>
            </a:r>
            <a:r>
              <a:rPr sz="1300" b="1">
                <a:solidFill>
                  <a:srgbClr val="C8D6E5"/>
                </a:solidFill>
                <a:latin typeface="Calibri"/>
              </a:rPr>
              <a:t>Layer 2 only</a:t>
            </a:r>
            <a:r>
              <a:rPr sz="1300" b="0">
                <a:solidFill>
                  <a:srgbClr val="C8D6E5"/>
                </a:solidFill>
                <a:latin typeface="Calibri"/>
              </a:rPr>
              <a:t> — they are not a substitute for a firewall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C8D6E5"/>
                </a:solidFill>
                <a:latin typeface="Calibri"/>
              </a:rPr>
              <a:t>Security professionals must know how to </a:t>
            </a:r>
            <a:r>
              <a:rPr sz="1300" b="1">
                <a:solidFill>
                  <a:srgbClr val="C8D6E5"/>
                </a:solidFill>
                <a:latin typeface="Calibri"/>
              </a:rPr>
              <a:t>build</a:t>
            </a:r>
            <a:r>
              <a:rPr sz="1300" b="0">
                <a:solidFill>
                  <a:srgbClr val="C8D6E5"/>
                </a:solidFill>
                <a:latin typeface="Calibri"/>
              </a:rPr>
              <a:t> these controls AND how to </a:t>
            </a:r>
            <a:r>
              <a:rPr sz="1300" b="1">
                <a:solidFill>
                  <a:srgbClr val="C8D6E5"/>
                </a:solidFill>
                <a:latin typeface="Calibri"/>
              </a:rPr>
              <a:t>break</a:t>
            </a:r>
            <a:r>
              <a:rPr sz="1300" b="0">
                <a:solidFill>
                  <a:srgbClr val="C8D6E5"/>
                </a:solidFill>
                <a:latin typeface="Calibri"/>
              </a:rPr>
              <a:t>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303520" cy="219456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142"/>
                </a:solidFill>
                <a:latin typeface="Calibri"/>
              </a:rPr>
              <a:t>VLAN Hopping: Double-Tagging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Attacker crafts a frame with two 802.1Q tags. The outer tag matches the native VLAN, the inner tag targets a victim VLAN. The first switch strips the outer tag and forwards the inner-tagged frame to the victim VLAN.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26080"/>
            <a:ext cx="5303520" cy="219456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063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142"/>
                </a:solidFill>
                <a:latin typeface="Calibri"/>
              </a:rPr>
              <a:t>VLAN Hopping: Switch Spoofing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204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Attacker configures their NIC to negotiate a trunk with the switch using DTP (Dynamic Trunking Protocol). If successful, the attacker's port becomes a trunk and can access all VLANs.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9E"/>
                </a:solidFill>
                <a:latin typeface="Calibri"/>
              </a:rPr>
              <a:t>Mitigations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806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Change native VLAN to an unused VLAN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Disable DTP on all access ports (switchport nonegotiate)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Explicitly configure access ports — never leave them in dynamic mode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Prune unused VLANs from trunks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Tagging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Why standard Ethernet frames aren't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Standard Ethernet Frame — No VLAN field exists: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828800" cy="457200"/>
          </a:xfrm>
          <a:prstGeom prst="rect">
            <a:avLst/>
          </a:prstGeom>
          <a:solidFill>
            <a:srgbClr val="2C5F7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Dest MAC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1920240"/>
            <a:ext cx="1828800" cy="457200"/>
          </a:xfrm>
          <a:prstGeom prst="rect">
            <a:avLst/>
          </a:prstGeom>
          <a:solidFill>
            <a:srgbClr val="2C5F7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33472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Source MAC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5424" y="1920240"/>
            <a:ext cx="1645920" cy="457200"/>
          </a:xfrm>
          <a:prstGeom prst="rect">
            <a:avLst/>
          </a:prstGeom>
          <a:solidFill>
            <a:srgbClr val="2C5F7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4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EtherType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920240"/>
            <a:ext cx="3383280" cy="457200"/>
          </a:xfrm>
          <a:prstGeom prst="rect">
            <a:avLst/>
          </a:prstGeom>
          <a:solidFill>
            <a:srgbClr val="3A6B8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4496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Payload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10928" y="1920240"/>
            <a:ext cx="1371600" cy="457200"/>
          </a:xfrm>
          <a:prstGeom prst="rect">
            <a:avLst/>
          </a:prstGeom>
          <a:solidFill>
            <a:srgbClr val="2C5F7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10928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B142"/>
                </a:solidFill>
                <a:latin typeface="Calibri"/>
              </a:rPr>
              <a:t>The Problem: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C8D6E5"/>
                </a:solidFill>
                <a:latin typeface="Calibri"/>
              </a:rPr>
              <a:t>Two switches share traffic from multiple VLANs over a single cable (trunk)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C8D6E5"/>
                </a:solidFill>
                <a:latin typeface="Calibri"/>
              </a:rPr>
              <a:t>When Switch B receives a frame, it has no way to know if it came from VLAN 10 or VLAN 20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C8D6E5"/>
                </a:solidFill>
                <a:latin typeface="Calibri"/>
              </a:rPr>
              <a:t>The standard Ethernet frame has no VLAN identification field whatsoever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B9E"/>
                </a:solidFill>
                <a:latin typeface="Calibri"/>
              </a:rPr>
              <a:t>The Solution: Trunk Links + a Tagging Protocol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4434840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802.1Q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IEEE open standard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All major vendors — industry standard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ISL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Cisco proprietary (legacy)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Cisco only — being phased out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31520" y="576072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8338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Standard Ethernet frames carry no VLAN information. Trunk links use 802.1Q tagging to label each frame with its VLAN identity.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802.1Q Tag —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A 4-byte tag inserted into the Ethernet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802.1Q Tagged Frame: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645920" cy="502920"/>
          </a:xfrm>
          <a:prstGeom prst="rect">
            <a:avLst/>
          </a:prstGeom>
          <a:solidFill>
            <a:srgbClr val="2C5F7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Dest MAC</a:t>
            </a:r>
          </a:p>
        </p:txBody>
      </p:sp>
      <p:sp>
        <p:nvSpPr>
          <p:cNvPr id="8" name="Rectangle 7"/>
          <p:cNvSpPr/>
          <p:nvPr/>
        </p:nvSpPr>
        <p:spPr>
          <a:xfrm>
            <a:off x="2432304" y="1874520"/>
            <a:ext cx="1645920" cy="502920"/>
          </a:xfrm>
          <a:prstGeom prst="rect">
            <a:avLst/>
          </a:prstGeom>
          <a:solidFill>
            <a:srgbClr val="2C5F7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32304" y="19476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Source MAC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8" y="1874520"/>
            <a:ext cx="1645920" cy="502920"/>
          </a:xfrm>
          <a:prstGeom prst="rect">
            <a:avLst/>
          </a:prstGeom>
          <a:solidFill>
            <a:srgbClr val="009B9E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33088" y="19476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B2D"/>
                </a:solidFill>
                <a:latin typeface="Calibri"/>
              </a:rPr>
              <a:t>802.1Q TAG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3872" y="1874520"/>
            <a:ext cx="1371600" cy="502920"/>
          </a:xfrm>
          <a:prstGeom prst="rect">
            <a:avLst/>
          </a:prstGeom>
          <a:solidFill>
            <a:srgbClr val="2C5F7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33872" y="1947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EtherType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0336" y="1874520"/>
            <a:ext cx="2743200" cy="502920"/>
          </a:xfrm>
          <a:prstGeom prst="rect">
            <a:avLst/>
          </a:prstGeom>
          <a:solidFill>
            <a:srgbClr val="3A6B8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0336" y="1947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Payload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874520"/>
            <a:ext cx="1097280" cy="502920"/>
          </a:xfrm>
          <a:prstGeom prst="rect">
            <a:avLst/>
          </a:prstGeom>
          <a:solidFill>
            <a:srgbClr val="2C5F7C"/>
          </a:solidFill>
          <a:ln w="12700">
            <a:solidFill>
              <a:srgbClr val="45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0" y="19476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Inside the 802.1Q Tag (4 bytes / 32 bits):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30175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4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TPID (Tag Protocol ID)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16 bits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Fixed value 0x8100 — identifies frame as 802.1Q tagged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PCP (Priority Code Point)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3 bits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QoS priority level (0–7); e.g., VoIP = priority 5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DEI (Drop Eligible)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1 bit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Marks frame as eligible for dropping under congestion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VID (VLAN Identifier)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12 bits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The VLAN number — range 0–4095, usable: 1–4094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152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142"/>
                </a:solidFill>
                <a:latin typeface="Calibri"/>
              </a:rPr>
              <a:t>Key Numbers to Remember: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40680"/>
            <a:ext cx="3383280" cy="73152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458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B9E"/>
                </a:solidFill>
                <a:latin typeface="Calibri"/>
              </a:rPr>
              <a:t>4 bytes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24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BAE"/>
                </a:solidFill>
                <a:latin typeface="Calibri"/>
              </a:rPr>
              <a:t>Total tag 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5440680"/>
            <a:ext cx="3383280" cy="73152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19" y="5458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B9E"/>
                </a:solidFill>
                <a:latin typeface="Calibri"/>
              </a:rPr>
              <a:t>12 bits → 4,094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5824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BAE"/>
                </a:solidFill>
                <a:latin typeface="Calibri"/>
              </a:rPr>
              <a:t>Usable VLANs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5440680"/>
            <a:ext cx="3383280" cy="73152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8" y="5458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B9E"/>
                </a:solidFill>
                <a:latin typeface="Calibri"/>
              </a:rPr>
              <a:t>0x8100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8" y="5824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BAE"/>
                </a:solidFill>
                <a:latin typeface="Calibri"/>
              </a:rPr>
              <a:t>EtherType identifier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Tagging Works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Computer A (VLAN 10, Switch A) → Computer B (VLAN 10, Switch B)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Frame State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Computer A sends a normal Ethernet frame into Switch A's access port (VLAN 10)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Untagged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Switch A associates the frame with VLAN 10 based on port assignment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Switch A inserts the 802.1Q tag (VID=10) and sends it out the trunk port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Tagged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Switch B receives the frame on its trunk port and reads the tag: VLAN 10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Tagged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Switch B removes the tag and delivers the clean frame to Computer B (VLAN 10)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Untagged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B9E"/>
                </a:solidFill>
                <a:latin typeface="Calibri"/>
              </a:rPr>
              <a:t>Two Essential Rules: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5212080" cy="100584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800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Rule 1: End devices never see the tag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Tagging/untagging happens entirely on trunk links between switches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09160"/>
            <a:ext cx="5212080" cy="100584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800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Rule 2: Access ports = always untagged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The switch handles VLAN identification internally based on port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03504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10819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Switches add the 802.1Q tag when sending onto a trunk and strip it when delivering to an access port. Tagging is transparent to hosts.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Native VLAN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The exception to the tagging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64008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native VLAN is the one VLAN on a trunk whose frames are sent WITHOUT an 802.1Q tag.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286000"/>
          <a:ext cx="53035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8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Default native VLAN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VLAN 1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Behavior on trunk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Native VLAN frames cross the trunk untagged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Receiving switch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Untagged frames on a trunk → assumed native VLAN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Critical requirement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Native VLAN must match on both sides of the trunk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What travels here?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CDP, STP BPDUs, VTP, and non-802.1Q-aware devices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B142"/>
                </a:solidFill>
                <a:latin typeface="Calibri"/>
              </a:rPr>
              <a:t>Security: Double-Tagging Attack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97480"/>
            <a:ext cx="5029200" cy="201168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FF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788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Attacker sends frame with two 802.1Q tags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Outer tag = native VLAN (gets stripped)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Inner tag = victim VLAN (gets forwarded)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B142"/>
                </a:solidFill>
                <a:latin typeface="Calibri"/>
              </a:rPr>
              <a:t>▸  Result: frame reaches a VLAN it shouldn't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Best Practices: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486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Change native VLAN from VLAN 1 to an unused VLAN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Match native VLAN on both ends of every trunk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C8D6E5"/>
                </a:solidFill>
                <a:latin typeface="Calibri"/>
              </a:rPr>
              <a:t>▸  Tag the native VLAN explicitly (Cisco: vlan dot1q tag native)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17220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624535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The native VLAN is untagged on trunks — a VLAN hopping vector. Always change it from default, ensure it matches, and consider tagging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Port Types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Access port vs. Trunk 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303520" cy="50292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B2D"/>
                </a:solidFill>
                <a:latin typeface="Calibri"/>
              </a:rPr>
              <a:t>ACCESS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Belongs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One single VLAN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Connected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44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End devices (PCs, printers, phones)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Tagging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None — frames always untagged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VLAN 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25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Configured per-port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Switch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Associates all incoming frames with the configured VLAN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46304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FF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463040"/>
            <a:ext cx="5303520" cy="502920"/>
          </a:xfrm>
          <a:prstGeom prst="rect">
            <a:avLst/>
          </a:prstGeom>
          <a:solidFill>
            <a:srgbClr val="F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508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B2D"/>
                </a:solidFill>
                <a:latin typeface="Calibri"/>
              </a:rPr>
              <a:t>TRUNK 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142"/>
                </a:solidFill>
                <a:latin typeface="Calibri"/>
              </a:rPr>
              <a:t>Belongs 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404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Carries multiple VLANs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142"/>
                </a:solidFill>
                <a:latin typeface="Calibri"/>
              </a:rPr>
              <a:t>Connected 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44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Other switches or routers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142"/>
                </a:solidFill>
                <a:latin typeface="Calibri"/>
              </a:rPr>
              <a:t>Tagging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685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802.1Q on all VLANs (except native)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142"/>
                </a:solidFill>
                <a:latin typeface="Calibri"/>
              </a:rPr>
              <a:t>VLAN 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325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Allowed VLAN list configurable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709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142"/>
                </a:solidFill>
                <a:latin typeface="Calibri"/>
              </a:rPr>
              <a:t>Switch behavior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65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Reads 802.1Q tag to determine VLAN; untagged → native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85216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592531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Access ports = single VLAN, untagged, for end devices. Trunk ports = multiple VLANs, 802.1Q tagged, for switch-to-switch links.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InterVLAN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Bridging the gap between isolated VLANs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5"/>
                </a:solidFill>
                <a:latin typeface="Calibri"/>
              </a:rPr>
              <a:t>VLANs are isolated by design — a device in VLAN 10 cannot reach VLAN 20 at Layer 2. A Layer 3 device must route between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27432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148840"/>
            <a:ext cx="365760" cy="36576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B2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Router on a Stick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Single router with sub-interfaces, one per VLAN, connected via 802.1Q trunk to the switch.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B9E"/>
                </a:solidFill>
                <a:latin typeface="Calibri"/>
              </a:rPr>
              <a:t>Best for: </a:t>
            </a:r>
            <a:r>
              <a:rPr sz="1100">
                <a:solidFill>
                  <a:srgbClr val="C8D6E5"/>
                </a:solidFill>
                <a:latin typeface="Calibri"/>
              </a:rPr>
              <a:t>Small networks,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474720" cy="27432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19" y="2148840"/>
            <a:ext cx="365760" cy="36576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B2D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19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SVI (Switch Virtual Interface)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26517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Multilayer (L3) switch creates virtual interfaces per VLAN and routes internally — fast, no extra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B9E"/>
                </a:solidFill>
                <a:latin typeface="Calibri"/>
              </a:rPr>
              <a:t>Best for: </a:t>
            </a:r>
            <a:r>
              <a:rPr sz="1100">
                <a:solidFill>
                  <a:srgbClr val="C8D6E5"/>
                </a:solidFill>
                <a:latin typeface="Calibri"/>
              </a:rPr>
              <a:t>Enterprise networks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2011680"/>
            <a:ext cx="3474720" cy="274320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25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66758" y="2148840"/>
            <a:ext cx="365760" cy="36576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B2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8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Routed 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26517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  <a:latin typeface="Calibri"/>
              </a:rPr>
              <a:t>Switch port configured as a Layer 3 interface (no VLAN) for point-to-point routing.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8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B9E"/>
                </a:solidFill>
                <a:latin typeface="Calibri"/>
              </a:rPr>
              <a:t>Best for: </a:t>
            </a:r>
            <a:r>
              <a:rPr sz="1100">
                <a:solidFill>
                  <a:srgbClr val="C8D6E5"/>
                </a:solidFill>
                <a:latin typeface="Calibri"/>
              </a:rPr>
              <a:t>Distribution / core uplinks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B142"/>
                </a:solidFill>
                <a:latin typeface="Calibri"/>
              </a:rPr>
              <a:t>Security: </a:t>
            </a:r>
            <a:r>
              <a:rPr sz="1300">
                <a:solidFill>
                  <a:srgbClr val="C8D6E5"/>
                </a:solidFill>
                <a:latin typeface="Calibri"/>
              </a:rPr>
              <a:t>Every inter-VLAN routing point is a policy enforcement point — apply ACLs or firewall rules to control which VLANs communicate.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1500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78815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>
                <a:solidFill>
                  <a:srgbClr val="C8D6E5"/>
                </a:solidFill>
                <a:latin typeface="Calibri"/>
              </a:rPr>
              <a:t>VLANs isolate at Layer 2; Layer 3 routing is required for inter-VLAN communication. Each routing point is an opportunity for security policy enforcement.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Troubleshooting VLANs &amp; Trunks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9B9E"/>
                </a:solidFill>
                <a:latin typeface="Calibri"/>
              </a:rPr>
              <a:t>Common issues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B9E"/>
                </a:solidFill>
                <a:latin typeface="Calibri"/>
              </a:rPr>
              <a:t>VLAN Problems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Likely Cause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Same-VLAN hosts can't communicate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Ports in different VLANs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No connectivity after VLAN change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VLAN doesn't exist on switch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Traffic blocked unexpectedly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VACL (VLAN Access List) applied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B142"/>
                </a:solidFill>
                <a:latin typeface="Calibri"/>
              </a:rPr>
              <a:t>Trunk Problems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373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Likely Cause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Trunk not forming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Encapsulation mismatch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Some VLANs not passing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Not in allowed list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Intermittent connectivity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Native VLAN mismatch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Wrong port mode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DTP negotiation conflict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9547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9B9E"/>
                </a:solidFill>
                <a:latin typeface="Calibri"/>
              </a:rPr>
              <a:t>Essential Verification Commands (Cisco IOS)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5610"/>
              </p:ext>
            </p:extLst>
          </p:nvPr>
        </p:nvGraphicFramePr>
        <p:xfrm>
          <a:off x="731520" y="4340615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0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B2D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show vlan brief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VLAN list and port assignments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show interfaces trunk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Trunk status, encapsulation, native VLAN, allowed VLANs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show interfaces switchport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C8D6E5"/>
                          </a:solidFill>
                          <a:latin typeface="Calibri"/>
                        </a:rPr>
                        <a:t>Detailed port mode and VLAN information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989320"/>
            <a:ext cx="10698480" cy="777240"/>
          </a:xfrm>
          <a:prstGeom prst="roundRect">
            <a:avLst>
              <a:gd name="adj" fmla="val 2000"/>
            </a:avLst>
          </a:prstGeom>
          <a:solidFill>
            <a:srgbClr val="0A3D3F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619963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9B9E"/>
                </a:solidFill>
                <a:latin typeface="Calibri"/>
              </a:rPr>
              <a:t>KEY TAKEAWAY   </a:t>
            </a:r>
            <a:r>
              <a:rPr sz="1200" b="0" dirty="0">
                <a:solidFill>
                  <a:srgbClr val="C8D6E5"/>
                </a:solidFill>
                <a:latin typeface="Calibri"/>
              </a:rPr>
              <a:t>Most issues: wrong VLAN assignment, VLAN not created, encapsulation mismatch, native VLAN mismatch, or VLAN missing from trunk allowed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Summary — The Big Picture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698480" cy="59436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VLANs segment a physical switch into isolated virtual broadcast domains, enabling security, performance, and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192024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48840" y="2057400"/>
            <a:ext cx="457200" cy="45720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0F1B2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VLAN = Virtual
Broadcast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6E5"/>
                </a:solidFill>
                <a:latin typeface="Calibri"/>
              </a:rPr>
              <a:t>One physical switch →
multiple isolated logical networks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474720" cy="192024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97879" y="2057400"/>
            <a:ext cx="457200" cy="457200"/>
          </a:xfrm>
          <a:prstGeom prst="ellipse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0F1B2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560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802.1Q = The
Tagging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6E5"/>
                </a:solidFill>
                <a:latin typeface="Calibri"/>
              </a:rPr>
              <a:t>A 4-byte tag with 12-bit VLAN ID
inserted on trunk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8" y="1920240"/>
            <a:ext cx="3474720" cy="192024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FF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46918" y="2057400"/>
            <a:ext cx="457200" cy="457200"/>
          </a:xfrm>
          <a:prstGeom prst="ellipse">
            <a:avLst/>
          </a:prstGeom>
          <a:solidFill>
            <a:srgbClr val="F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0F1B2D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8" y="2560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VLANs = A
Cybersecurity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8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6E5"/>
                </a:solidFill>
                <a:latin typeface="Calibri"/>
              </a:rPr>
              <a:t>Limits lateral movement,
enforces access, meets PCI-DSS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9E"/>
                </a:solidFill>
                <a:latin typeface="Calibri"/>
              </a:rPr>
              <a:t>What Connects Forward: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4389120"/>
          <a:ext cx="105155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This Lesson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B2D"/>
                          </a:solidFill>
                          <a:latin typeface="Calibri"/>
                        </a:rPr>
                        <a:t>Leads To</a:t>
                      </a:r>
                    </a:p>
                  </a:txBody>
                  <a:tcPr>
                    <a:solidFill>
                      <a:srgbClr val="009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VLAN isolation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InterVLAN routing (Router on a Stick, SVIs)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802.1Q tagging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VLAN hopping attacks &amp; mitigation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Native VLAN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Double-tagging attack lab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Access vs. trunk ports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Port security &amp; 802.1X authentication</a:t>
                      </a:r>
                    </a:p>
                  </a:txBody>
                  <a:tcPr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Network segmentation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8D6E5"/>
                          </a:solidFill>
                          <a:latin typeface="Calibri"/>
                        </a:rPr>
                        <a:t>Zero Trust Architecture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914400"/>
            <a:ext cx="5486400" cy="5486400"/>
          </a:xfrm>
          <a:prstGeom prst="ellipse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Challenge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6459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9B9E"/>
                </a:solidFill>
                <a:latin typeface="Georgia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9418320" cy="1645920"/>
          </a:xfrm>
          <a:prstGeom prst="roundRect">
            <a:avLst>
              <a:gd name="adj" fmla="val 2000"/>
            </a:avLst>
          </a:prstGeom>
          <a:solidFill>
            <a:srgbClr val="1A2F4A"/>
          </a:solidFill>
          <a:ln w="127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If VLANs isolate networks at Layer 2, what device or mechanism do we need to allow a host in VLAN 10 to communicate with a host in VLAN 20 — and what new security risks does that introduce?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B142"/>
                </a:solidFill>
                <a:latin typeface="Calibri"/>
              </a:rPr>
              <a:t>Hint: </a:t>
            </a:r>
            <a:r>
              <a:rPr sz="1400">
                <a:solidFill>
                  <a:srgbClr val="C8D6E5"/>
                </a:solidFill>
                <a:latin typeface="Calibri"/>
              </a:rPr>
              <a:t>The answer connects networking fundamentals to firewall policy, ACL design, and the principle of least privilege.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B9E"/>
                </a:solidFill>
                <a:latin typeface="Calibri"/>
              </a:rPr>
              <a:t>Think about this before next class!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BAE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2105</Words>
  <Application>Microsoft Office PowerPoint</Application>
  <PresentationFormat>Widescreen</PresentationFormat>
  <Paragraphs>312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Asen Grozdanov</cp:lastModifiedBy>
  <cp:revision>2</cp:revision>
  <dcterms:created xsi:type="dcterms:W3CDTF">2013-01-27T09:14:16Z</dcterms:created>
  <dcterms:modified xsi:type="dcterms:W3CDTF">2026-02-18T20:33:33Z</dcterms:modified>
  <cp:category/>
</cp:coreProperties>
</file>